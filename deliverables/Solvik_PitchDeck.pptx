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6B264"/>
                </a:solidFill>
                <a:latin typeface="Calibri"/>
              </a:rPr>
              <a:t>◎ </a:t>
            </a:r>
            <a:r>
              <a:rPr sz="1900" b="0" i="0">
                <a:solidFill>
                  <a:srgbClr val="F2ECDD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F2ECDD"/>
                </a:solidFill>
                <a:latin typeface="Consolas"/>
              </a:rPr>
              <a:t>  ·  PITCH DECK ·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-914400" y="-914400"/>
            <a:ext cx="5486400" cy="457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EAD18C"/>
                </a:solidFill>
                <a:latin typeface="Consolas"/>
              </a:rPr>
              <a:t>EMPRENDIMIENTO DE IMPACTO · ENERGÍA LIMPIA ACCESIBLE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5000" b="0" i="0">
                <a:solidFill>
                  <a:srgbClr val="F2ECDD"/>
                </a:solidFill>
                <a:latin typeface="Georgia"/>
              </a:rPr>
              <a:t>Energía solar </a:t>
            </a:r>
            <a:r>
              <a:rPr sz="5000" b="0" i="1">
                <a:solidFill>
                  <a:srgbClr val="EAD18C"/>
                </a:solidFill>
                <a:latin typeface="Georgia"/>
              </a:rPr>
              <a:t>en tu hogar,</a:t>
            </a:r>
          </a:p>
          <a:p>
            <a:pPr algn="l">
              <a:lnSpc>
                <a:spcPct val="98000"/>
              </a:lnSpc>
            </a:pPr>
            <a:r>
              <a:rPr sz="5000" b="0" i="0">
                <a:solidFill>
                  <a:srgbClr val="F2ECDD"/>
                </a:solidFill>
                <a:latin typeface="Georgia"/>
              </a:rPr>
              <a:t>sin pagar todo de golpe.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70916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FC8B8"/>
                </a:solidFill>
                <a:latin typeface="Calibri"/>
              </a:rPr>
              <a:t>Democratizamos el acceso a la energía solar en México con </a:t>
            </a:r>
            <a:r>
              <a:rPr sz="1600" b="1" i="0">
                <a:solidFill>
                  <a:srgbClr val="F2ECDD"/>
                </a:solidFill>
                <a:latin typeface="Calibri"/>
              </a:rPr>
              <a:t>renta, microcrédito e inteligencia artificial.</a:t>
            </a:r>
            <a:r>
              <a:rPr sz="1600" b="0" i="0">
                <a:solidFill>
                  <a:srgbClr val="CFC8B8"/>
                </a:solidFill>
                <a:latin typeface="Calibri"/>
              </a:rPr>
              <a:t> Ahorra desde el primer 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263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20">
                <a:solidFill>
                  <a:srgbClr val="9A968D"/>
                </a:solidFill>
                <a:latin typeface="Consolas"/>
              </a:rPr>
              <a:t>Equipo </a:t>
            </a:r>
            <a:r>
              <a:rPr sz="1050" b="0" i="1" spc="120">
                <a:solidFill>
                  <a:srgbClr val="B68A3C"/>
                </a:solidFill>
                <a:latin typeface="Consolas"/>
              </a:rPr>
              <a:t>[Equipo X]</a:t>
            </a:r>
            <a:r>
              <a:rPr sz="1050" b="0" i="0" spc="120">
                <a:solidFill>
                  <a:srgbClr val="9A968D"/>
                </a:solidFill>
                <a:latin typeface="Consolas"/>
              </a:rPr>
              <a:t>  ·  Construye · Tecnológico de Monterrey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6850"/>
                </a:solidFill>
                <a:latin typeface="Calibri"/>
              </a:rPr>
              <a:t>◎ </a:t>
            </a:r>
            <a:r>
              <a:rPr sz="1900" b="0" i="0">
                <a:solidFill>
                  <a:srgbClr val="0E1512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5F5C53"/>
                </a:solidFill>
                <a:latin typeface="Consolas"/>
              </a:rPr>
              <a:t>01  ·  QUIÉN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2E6850"/>
                </a:solidFill>
                <a:latin typeface="Consolas"/>
              </a:rPr>
              <a:t>QUIÉN VIVE LA PROBLEMÁTICA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61264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>
                <a:solidFill>
                  <a:srgbClr val="0E1512"/>
                </a:solidFill>
                <a:latin typeface="Georgia"/>
              </a:rPr>
              <a:t>"Pagaba </a:t>
            </a:r>
            <a:r>
              <a:rPr sz="2200" b="0" i="1">
                <a:solidFill>
                  <a:srgbClr val="B68A3C"/>
                </a:solidFill>
                <a:latin typeface="Georgia"/>
              </a:rPr>
              <a:t>$2,800 de luz</a:t>
            </a:r>
            <a:r>
              <a:rPr sz="2200" b="0" i="0">
                <a:solidFill>
                  <a:srgbClr val="0E1512"/>
                </a:solidFill>
                <a:latin typeface="Georgia"/>
              </a:rPr>
              <a:t> cada mes y en verano la tienda se quedaba sin energía con los apagones. El sol me sobra... pero los paneles costaban una fortuna."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297680"/>
            <a:ext cx="6035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F5C53"/>
                </a:solidFill>
                <a:latin typeface="Calibri"/>
              </a:rPr>
              <a:t>— Doña Rosa, dueña de una tienda de abarrotes. Como ella, </a:t>
            </a:r>
            <a:r>
              <a:rPr sz="1500" b="1" i="0">
                <a:solidFill>
                  <a:srgbClr val="0E1512"/>
                </a:solidFill>
                <a:latin typeface="Calibri"/>
              </a:rPr>
              <a:t>millones de familias y micronegocios</a:t>
            </a:r>
            <a:r>
              <a:rPr sz="1500" b="0" i="0">
                <a:solidFill>
                  <a:srgbClr val="5F5C53"/>
                </a:solidFill>
                <a:latin typeface="Calibri"/>
              </a:rPr>
              <a:t> en México viven con recibos de luz que no paran de subir.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417320"/>
            <a:ext cx="4572000" cy="4206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40880" y="141732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F4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7830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60">
                <a:solidFill>
                  <a:srgbClr val="5F5C53"/>
                </a:solidFill>
                <a:latin typeface="Consolas"/>
              </a:rPr>
              <a:t>NUESTRO PROPÓSITO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286000"/>
            <a:ext cx="39319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0" i="0">
                <a:solidFill>
                  <a:srgbClr val="0E1512"/>
                </a:solidFill>
                <a:latin typeface="Georgia"/>
              </a:rPr>
              <a:t>El sol no debería llegar </a:t>
            </a:r>
            <a:r>
              <a:rPr sz="2700" b="0" i="1">
                <a:solidFill>
                  <a:srgbClr val="B68A3C"/>
                </a:solidFill>
                <a:latin typeface="Georgia"/>
              </a:rPr>
              <a:t>con recargo.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657600"/>
            <a:ext cx="3931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F5C53"/>
                </a:solidFill>
                <a:latin typeface="Calibri"/>
              </a:rPr>
              <a:t>Existimos para que cualquier hogar mexicano pueda ahorrar con energía limpia, </a:t>
            </a:r>
            <a:r>
              <a:rPr sz="1400" b="1" i="0">
                <a:solidFill>
                  <a:srgbClr val="0E1512"/>
                </a:solidFill>
                <a:latin typeface="Calibri"/>
              </a:rPr>
              <a:t>sin pagar una fortuna por adelantado.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4892040"/>
            <a:ext cx="3840480" cy="18288"/>
          </a:xfrm>
          <a:prstGeom prst="rect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502920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 spc="120">
                <a:solidFill>
                  <a:srgbClr val="5F5C53"/>
                </a:solidFill>
                <a:latin typeface="Consolas"/>
              </a:rPr>
              <a:t>VALORES</a:t>
            </a:r>
          </a:p>
          <a:p>
            <a:pPr algn="l">
              <a:lnSpc>
                <a:spcPct val="140000"/>
              </a:lnSpc>
            </a:pPr>
            <a:r>
              <a:rPr sz="1050" b="0" i="0" spc="120">
                <a:solidFill>
                  <a:srgbClr val="5F5C53"/>
                </a:solidFill>
                <a:latin typeface="Consolas"/>
              </a:rPr>
              <a:t>Accesibilidad · Transparencia · Sostenibilidad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6850"/>
                </a:solidFill>
                <a:latin typeface="Calibri"/>
              </a:rPr>
              <a:t>◎ </a:t>
            </a:r>
            <a:r>
              <a:rPr sz="1900" b="0" i="0">
                <a:solidFill>
                  <a:srgbClr val="0E1512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5F5C53"/>
                </a:solidFill>
                <a:latin typeface="Consolas"/>
              </a:rPr>
              <a:t>02  ·  QUÉ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2E6850"/>
                </a:solidFill>
                <a:latin typeface="Consolas"/>
              </a:rPr>
              <a:t>EL PROBLEMA · CONTEXTO Y EVIDENCIAS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 i="0">
                <a:solidFill>
                  <a:srgbClr val="0E1512"/>
                </a:solidFill>
                <a:latin typeface="Georgia"/>
              </a:rPr>
              <a:t>La energía solar ya es rentable. </a:t>
            </a:r>
            <a:r>
              <a:rPr sz="3300" b="0" i="1">
                <a:solidFill>
                  <a:srgbClr val="5F5C53"/>
                </a:solidFill>
                <a:latin typeface="Georgia"/>
              </a:rPr>
              <a:t>Pero sigue fuera del alcance de la mayoría.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08960"/>
            <a:ext cx="3566160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2E6850"/>
                </a:solidFill>
                <a:latin typeface="Georgia"/>
              </a:rPr>
              <a:t>$80–150k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069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E1512"/>
                </a:solidFill>
                <a:latin typeface="Georgia"/>
              </a:rPr>
              <a:t>La barrera es el enganche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70916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F5C53"/>
                </a:solidFill>
                <a:latin typeface="Calibri"/>
              </a:rPr>
              <a:t>Un sistema residencial cuesta entre $80,000 y $150,000 MXN de contado </a:t>
            </a:r>
            <a:r>
              <a:rPr sz="1250" b="0" i="1">
                <a:solidFill>
                  <a:srgbClr val="B68A3C"/>
                </a:solidFill>
                <a:latin typeface="Calibri"/>
              </a:rPr>
              <a:t>[verificar]</a:t>
            </a:r>
            <a:r>
              <a:rPr sz="1250" b="0" i="0">
                <a:solidFill>
                  <a:srgbClr val="5F5C53"/>
                </a:solidFill>
                <a:latin typeface="Calibri"/>
              </a:rPr>
              <a:t>. La mayoría no puede pagarlo de golpe.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108960"/>
            <a:ext cx="3566160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2E6850"/>
                </a:solidFill>
                <a:latin typeface="Georgia"/>
              </a:rPr>
              <a:t>↑ cada año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69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E1512"/>
                </a:solidFill>
                <a:latin typeface="Georgia"/>
              </a:rPr>
              <a:t>Tarifas de CFE al alza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70916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F5C53"/>
                </a:solidFill>
                <a:latin typeface="Calibri"/>
              </a:rPr>
              <a:t>Las tarifas suben año con año y la tarifa DAC castiga a quien más consume. El recibo asfixia a familias y micronegocios.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3108960"/>
            <a:ext cx="3566160" cy="28346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1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2E6850"/>
                </a:solidFill>
                <a:latin typeface="Georgia"/>
              </a:rPr>
              <a:t>&lt; 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40690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0E1512"/>
                </a:solidFill>
                <a:latin typeface="Georgia"/>
              </a:rPr>
              <a:t>Penetración mínima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4709160"/>
            <a:ext cx="30632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F5C53"/>
                </a:solidFill>
                <a:latin typeface="Calibri"/>
              </a:rPr>
              <a:t>Menos del 1% de los hogares en México tiene paneles </a:t>
            </a:r>
            <a:r>
              <a:rPr sz="1250" b="0" i="1">
                <a:solidFill>
                  <a:srgbClr val="B68A3C"/>
                </a:solidFill>
                <a:latin typeface="Calibri"/>
              </a:rPr>
              <a:t>[verificar fuente]</a:t>
            </a:r>
            <a:r>
              <a:rPr sz="1250" b="0" i="0">
                <a:solidFill>
                  <a:srgbClr val="5F5C53"/>
                </a:solidFill>
                <a:latin typeface="Calibri"/>
              </a:rPr>
              <a:t>, pese a ser uno de los países con más irradiación solar del mundo.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6B264"/>
                </a:solidFill>
                <a:latin typeface="Calibri"/>
              </a:rPr>
              <a:t>◎ </a:t>
            </a:r>
            <a:r>
              <a:rPr sz="1900" b="0" i="0">
                <a:solidFill>
                  <a:srgbClr val="F2ECDD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F2ECDD"/>
                </a:solidFill>
                <a:latin typeface="Consolas"/>
              </a:rPr>
              <a:t>03  ·  CÓMO LO SOLUCIONO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EAD18C"/>
                </a:solidFill>
                <a:latin typeface="Consolas"/>
              </a:rP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 i="0">
                <a:solidFill>
                  <a:srgbClr val="F2ECDD"/>
                </a:solidFill>
                <a:latin typeface="Georgia"/>
              </a:rPr>
              <a:t>Quitamos la barrera de entrada. </a:t>
            </a:r>
            <a:r>
              <a:rPr sz="3300" b="0" i="1">
                <a:solidFill>
                  <a:srgbClr val="EAD18C"/>
                </a:solidFill>
                <a:latin typeface="Georgia"/>
              </a:rPr>
              <a:t>Tú solo ves el ahorro.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08960"/>
            <a:ext cx="3566160" cy="2743200"/>
          </a:xfrm>
          <a:prstGeom prst="roundRect">
            <a:avLst>
              <a:gd name="adj" fmla="val 7000"/>
            </a:avLst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EAD18C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069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2ECDD"/>
                </a:solidFill>
                <a:latin typeface="Georgia"/>
              </a:rPr>
              <a:t>Renta mensual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70916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4CBC4"/>
                </a:solidFill>
                <a:latin typeface="Calibri"/>
              </a:rPr>
              <a:t>Sin enganche y con mantenimiento incluido. Pago fijo, cancela cuando quieras. Ahorras desde el primer 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108960"/>
            <a:ext cx="3566160" cy="2743200"/>
          </a:xfrm>
          <a:prstGeom prst="roundRect">
            <a:avLst>
              <a:gd name="adj" fmla="val 7000"/>
            </a:avLst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EAD18C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069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2ECDD"/>
                </a:solidFill>
                <a:latin typeface="Georgia"/>
              </a:rPr>
              <a:t>Microcrédito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70916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4CBC4"/>
                </a:solidFill>
                <a:latin typeface="Calibri"/>
              </a:rPr>
              <a:t>El equipo es tuyo desde el día uno, a plazos accesibles de 12 a 48 meses con aprobación rápida.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1" y="3108960"/>
            <a:ext cx="3566160" cy="2743200"/>
          </a:xfrm>
          <a:prstGeom prst="roundRect">
            <a:avLst>
              <a:gd name="adj" fmla="val 7000"/>
            </a:avLst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1" y="33832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EAD18C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406908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F2ECDD"/>
                </a:solidFill>
                <a:latin typeface="Georgia"/>
              </a:rPr>
              <a:t>IA que lo cuida 24/7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4709160"/>
            <a:ext cx="3063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4CBC4"/>
                </a:solidFill>
                <a:latin typeface="Calibri"/>
              </a:rPr>
              <a:t>Mantenimiento predictivo, limpieza inteligente y optimización de la venta de excedentes a CFE.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6850"/>
                </a:solidFill>
                <a:latin typeface="Calibri"/>
              </a:rPr>
              <a:t>◎ </a:t>
            </a:r>
            <a:r>
              <a:rPr sz="1900" b="0" i="0">
                <a:solidFill>
                  <a:srgbClr val="0E1512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5F5C53"/>
                </a:solidFill>
                <a:latin typeface="Consolas"/>
              </a:rPr>
              <a:t>04  ·  DIFERENCIADOR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2E6850"/>
                </a:solidFill>
                <a:latin typeface="Consolas"/>
              </a:rPr>
              <a:t>¿QUÉ NOS HACE ÚNICOS?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5486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E1512"/>
                </a:solidFill>
                <a:latin typeface="Georgia"/>
              </a:rPr>
              <a:t>No vendemos paneles. </a:t>
            </a:r>
            <a:r>
              <a:rPr sz="3200" b="0" i="1">
                <a:solidFill>
                  <a:srgbClr val="B68A3C"/>
                </a:solidFill>
                <a:latin typeface="Georgia"/>
              </a:rPr>
              <a:t>Vendemos ahorro sin fricción.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31920"/>
            <a:ext cx="53949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F5C53"/>
                </a:solidFill>
                <a:latin typeface="Calibri"/>
              </a:rPr>
              <a:t>La competencia te pide pagar todo de contado o un crédito rígido. Solvik combina </a:t>
            </a:r>
            <a:r>
              <a:rPr sz="1500" b="1" i="0">
                <a:solidFill>
                  <a:srgbClr val="0E1512"/>
                </a:solidFill>
                <a:latin typeface="Calibri"/>
              </a:rPr>
              <a:t>acceso flexible + IA + acompañamiento</a:t>
            </a:r>
            <a:r>
              <a:rPr sz="1500" b="0" i="0">
                <a:solidFill>
                  <a:srgbClr val="5F5C53"/>
                </a:solidFill>
                <a:latin typeface="Calibri"/>
              </a:rPr>
              <a:t> en un solo producto.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627631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508760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E1512"/>
                </a:solidFill>
                <a:latin typeface="Calibri"/>
              </a:rPr>
              <a:t>Sin enganche — </a:t>
            </a:r>
            <a:r>
              <a:rPr sz="1450" b="0" i="0">
                <a:solidFill>
                  <a:srgbClr val="5F5C53"/>
                </a:solidFill>
                <a:latin typeface="Calibri"/>
              </a:rPr>
              <a:t>entras desde $0 con el plan de renta.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075688"/>
            <a:ext cx="4434840" cy="10972"/>
          </a:xfrm>
          <a:prstGeom prst="rect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0" y="2414015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2295144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E1512"/>
                </a:solidFill>
                <a:latin typeface="Calibri"/>
              </a:rPr>
              <a:t>Mantenimiento incluido — </a:t>
            </a:r>
            <a:r>
              <a:rPr sz="1450" b="0" i="0">
                <a:solidFill>
                  <a:srgbClr val="5F5C53"/>
                </a:solidFill>
                <a:latin typeface="Calibri"/>
              </a:rPr>
              <a:t>técnicos certificados sin costo extra.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2862072"/>
            <a:ext cx="4434840" cy="10972"/>
          </a:xfrm>
          <a:prstGeom prst="rect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3200399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3081527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E1512"/>
                </a:solidFill>
                <a:latin typeface="Calibri"/>
              </a:rPr>
              <a:t>IA predictiva — </a:t>
            </a:r>
            <a:r>
              <a:rPr sz="1450" b="0" i="0">
                <a:solidFill>
                  <a:srgbClr val="5F5C53"/>
                </a:solidFill>
                <a:latin typeface="Calibri"/>
              </a:rPr>
              <a:t>detecta fallas antes de que pasen.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0" y="3648456"/>
            <a:ext cx="4434840" cy="10972"/>
          </a:xfrm>
          <a:prstGeom prst="rect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0" y="3986783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3867911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E1512"/>
                </a:solidFill>
                <a:latin typeface="Calibri"/>
              </a:rPr>
              <a:t>Optimiza tu venta a CFE — </a:t>
            </a:r>
            <a:r>
              <a:rPr sz="1450" b="0" i="0">
                <a:solidFill>
                  <a:srgbClr val="5F5C53"/>
                </a:solidFill>
                <a:latin typeface="Calibri"/>
              </a:rPr>
              <a:t>más ingresos por tus excedentes.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4434840"/>
            <a:ext cx="4434840" cy="10972"/>
          </a:xfrm>
          <a:prstGeom prst="rect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47731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4654296"/>
            <a:ext cx="4480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0E1512"/>
                </a:solidFill>
                <a:latin typeface="Calibri"/>
              </a:rPr>
              <a:t>App gratuita — </a:t>
            </a:r>
            <a:r>
              <a:rPr sz="1450" b="0" i="0">
                <a:solidFill>
                  <a:srgbClr val="5F5C53"/>
                </a:solidFill>
                <a:latin typeface="Calibri"/>
              </a:rPr>
              <a:t>sin anuncios ni compras ocultas.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0" y="5221224"/>
            <a:ext cx="4434840" cy="10972"/>
          </a:xfrm>
          <a:prstGeom prst="rect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6850"/>
                </a:solidFill>
                <a:latin typeface="Calibri"/>
              </a:rPr>
              <a:t>◎ </a:t>
            </a:r>
            <a:r>
              <a:rPr sz="1900" b="0" i="0">
                <a:solidFill>
                  <a:srgbClr val="0E1512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5F5C53"/>
                </a:solidFill>
                <a:latin typeface="Consolas"/>
              </a:rPr>
              <a:t>05  ·  CÓMO SE 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2E6850"/>
                </a:solidFill>
                <a:latin typeface="Consolas"/>
              </a:rPr>
              <a:t>PROTOTIPO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5486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0" i="0">
                <a:solidFill>
                  <a:srgbClr val="0E1512"/>
                </a:solidFill>
                <a:latin typeface="Georgia"/>
              </a:rPr>
              <a:t>Ya es real: </a:t>
            </a:r>
            <a:r>
              <a:rPr sz="3200" b="0" i="1">
                <a:solidFill>
                  <a:srgbClr val="B68A3C"/>
                </a:solidFill>
                <a:latin typeface="Georgia"/>
              </a:rPr>
              <a:t>sitio y simulador funcionando.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53949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F5C53"/>
                </a:solidFill>
                <a:latin typeface="Calibri"/>
              </a:rPr>
              <a:t>Construimos un producto digital funcional: una landing con </a:t>
            </a:r>
            <a:r>
              <a:rPr sz="1500" b="1" i="0">
                <a:solidFill>
                  <a:srgbClr val="0E1512"/>
                </a:solidFill>
                <a:latin typeface="Calibri"/>
              </a:rPr>
              <a:t>calculadora de ahorro</a:t>
            </a:r>
            <a:r>
              <a:rPr sz="1500" b="0" i="0">
                <a:solidFill>
                  <a:srgbClr val="5F5C53"/>
                </a:solidFill>
                <a:latin typeface="Calibri"/>
              </a:rPr>
              <a:t> en tiempo real y el diseño de la </a:t>
            </a:r>
            <a:r>
              <a:rPr sz="1500" b="1" i="0">
                <a:solidFill>
                  <a:srgbClr val="0E1512"/>
                </a:solidFill>
                <a:latin typeface="Calibri"/>
              </a:rPr>
              <a:t>app móvil</a:t>
            </a:r>
            <a:r>
              <a:rPr sz="1500" b="0" i="0">
                <a:solidFill>
                  <a:srgbClr val="5F5C53"/>
                </a:solidFill>
                <a:latin typeface="Calibri"/>
              </a:rPr>
              <a:t> (iOS y Android) para monitorear producción, ahorros y la venta a la 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212080"/>
            <a:ext cx="2427732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321808"/>
            <a:ext cx="24277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E1512"/>
                </a:solidFill>
                <a:latin typeface="Calibri"/>
              </a:rPr>
              <a:t>Landing + calculadora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2676" y="5212080"/>
            <a:ext cx="1275588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2676" y="5321808"/>
            <a:ext cx="12755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E1512"/>
                </a:solidFill>
                <a:latin typeface="Calibri"/>
              </a:rPr>
              <a:t>App móvil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5212080"/>
            <a:ext cx="1947672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5321808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E1512"/>
                </a:solidFill>
                <a:latin typeface="Calibri"/>
              </a:rPr>
              <a:t>Monitoreo con 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417320"/>
            <a:ext cx="4572000" cy="4297680"/>
          </a:xfrm>
          <a:prstGeom prst="roundRect">
            <a:avLst>
              <a:gd name="adj" fmla="val 5000"/>
            </a:avLst>
          </a:prstGeom>
          <a:solidFill>
            <a:srgbClr val="F4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040880" y="1417320"/>
            <a:ext cx="4572000" cy="1554480"/>
          </a:xfrm>
          <a:prstGeom prst="roundRect">
            <a:avLst>
              <a:gd name="adj" fmla="val 5000"/>
            </a:avLst>
          </a:prstGeom>
          <a:solidFill>
            <a:srgbClr val="0E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691640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40">
                <a:solidFill>
                  <a:srgbClr val="9A968D"/>
                </a:solidFill>
                <a:latin typeface="Consolas"/>
              </a:rPr>
              <a:t>APP SOLVIK · DEMO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011680"/>
            <a:ext cx="3840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EAD18C"/>
                </a:solidFill>
                <a:latin typeface="Georgia"/>
              </a:rPr>
              <a:t>18.4 </a:t>
            </a:r>
            <a:r>
              <a:rPr sz="1500" b="0" i="0">
                <a:solidFill>
                  <a:srgbClr val="C4CBC4"/>
                </a:solidFill>
                <a:latin typeface="Calibri"/>
              </a:rPr>
              <a:t>kWh hoy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6517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D18C"/>
                </a:solidFill>
                <a:latin typeface="Calibri"/>
              </a:rPr>
              <a:t>+12% vs 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20" y="3291839"/>
            <a:ext cx="187451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34290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20">
                <a:solidFill>
                  <a:srgbClr val="5F5C53"/>
                </a:solidFill>
                <a:latin typeface="Consolas"/>
              </a:rPr>
              <a:t>AHORRO 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749039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E1512"/>
                </a:solidFill>
                <a:latin typeface="Georgia"/>
              </a:rPr>
              <a:t>$1,284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291839"/>
            <a:ext cx="1874519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55480" y="342900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 spc="120">
                <a:solidFill>
                  <a:srgbClr val="5F5C53"/>
                </a:solidFill>
                <a:latin typeface="Consolas"/>
              </a:rPr>
              <a:t>CO₂ EVITADO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749039"/>
            <a:ext cx="1645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0E1512"/>
                </a:solidFill>
                <a:latin typeface="Georgia"/>
              </a:rPr>
              <a:t>924 </a:t>
            </a:r>
            <a:r>
              <a:rPr sz="1200" b="0" i="0">
                <a:solidFill>
                  <a:srgbClr val="0E1512"/>
                </a:solidFill>
                <a:latin typeface="Calibri"/>
              </a:rPr>
              <a:t>kg/año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6850"/>
                </a:solidFill>
                <a:latin typeface="Calibri"/>
              </a:rPr>
              <a:t>◎ </a:t>
            </a:r>
            <a:r>
              <a:rPr sz="1900" b="0" i="0">
                <a:solidFill>
                  <a:srgbClr val="0E1512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5F5C53"/>
                </a:solidFill>
                <a:latin typeface="Consolas"/>
              </a:rPr>
              <a:t>06  · 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2E6850"/>
                </a:solidFill>
                <a:latin typeface="Consolas"/>
              </a:rPr>
              <a:t>¿QUÉ PRUEBAS TENEMOS DE QUE FUNCIONA?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i="0">
                <a:solidFill>
                  <a:srgbClr val="0E1512"/>
                </a:solidFill>
                <a:latin typeface="Georgia"/>
              </a:rPr>
              <a:t>La gente </a:t>
            </a:r>
            <a:r>
              <a:rPr sz="3100" b="0" i="1">
                <a:solidFill>
                  <a:srgbClr val="B68A3C"/>
                </a:solidFill>
                <a:latin typeface="Georgia"/>
              </a:rPr>
              <a:t>sí quiere</a:t>
            </a:r>
            <a:r>
              <a:rPr sz="3100" b="0" i="0">
                <a:solidFill>
                  <a:srgbClr val="0E1512"/>
                </a:solidFill>
                <a:latin typeface="Georgia"/>
              </a:rPr>
              <a:t> el sol — cuando se lo hacemos accesible.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089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4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3383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B68A3C"/>
                </a:solidFill>
                <a:latin typeface="Georgia"/>
              </a:rPr>
              <a:t>[120]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43434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F5C53"/>
                </a:solidFill>
                <a:latin typeface="Calibri"/>
              </a:rPr>
              <a:t>entrevistas y encuestas a hogares y micronegocios  </a:t>
            </a:r>
            <a:r>
              <a:rPr sz="1250" b="0" i="1">
                <a:solidFill>
                  <a:srgbClr val="B68A3C"/>
                </a:solidFill>
                <a:latin typeface="Calibri"/>
              </a:rPr>
              <a:t>[su dato]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31089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4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383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B68A3C"/>
                </a:solidFill>
                <a:latin typeface="Georgia"/>
              </a:rPr>
              <a:t>[78%]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3434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F5C53"/>
                </a:solidFill>
                <a:latin typeface="Calibri"/>
              </a:rPr>
              <a:t>elegiría renta/microcrédito antes que pagar de contado  </a:t>
            </a:r>
            <a:r>
              <a:rPr sz="1250" b="0" i="1">
                <a:solidFill>
                  <a:srgbClr val="B68A3C"/>
                </a:solidFill>
                <a:latin typeface="Calibri"/>
              </a:rPr>
              <a:t>[su dato]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31089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4EE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33832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B68A3C"/>
                </a:solidFill>
                <a:latin typeface="Georgia"/>
              </a:rPr>
              <a:t>[XX]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1" y="4343400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5F5C53"/>
                </a:solidFill>
                <a:latin typeface="Calibri"/>
              </a:rPr>
              <a:t>familias en lista de espera / piloto comprometido  </a:t>
            </a:r>
            <a:r>
              <a:rPr sz="1250" b="0" i="1">
                <a:solidFill>
                  <a:srgbClr val="B68A3C"/>
                </a:solidFill>
                <a:latin typeface="Calibri"/>
              </a:rPr>
              <a:t>[su dato]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86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1512"/>
                </a:solidFill>
                <a:latin typeface="Calibri"/>
              </a:rPr>
              <a:t>Reemplacen los corchetes con sus datos reales del curso:</a:t>
            </a:r>
            <a:r>
              <a:rPr sz="1500" b="0" i="0">
                <a:solidFill>
                  <a:srgbClr val="5F5C53"/>
                </a:solidFill>
                <a:latin typeface="Calibri"/>
              </a:rPr>
              <a:t> entrevistas, encuestas, cartas de intención, pilotos o pre-registros. Esa evidencia es lo que más suma puntos.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6B264"/>
                </a:solidFill>
                <a:latin typeface="Calibri"/>
              </a:rPr>
              <a:t>◎ </a:t>
            </a:r>
            <a:r>
              <a:rPr sz="1900" b="0" i="0">
                <a:solidFill>
                  <a:srgbClr val="F2ECDD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F2ECDD"/>
                </a:solidFill>
                <a:latin typeface="Consolas"/>
              </a:rPr>
              <a:t>07  · 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EAD18C"/>
                </a:solidFill>
                <a:latin typeface="Consolas"/>
              </a:rPr>
              <a:t>¿CÓMO GENERAMOS VALOR (Y DINERO)?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i="0">
                <a:solidFill>
                  <a:srgbClr val="F2ECDD"/>
                </a:solidFill>
                <a:latin typeface="Georgia"/>
              </a:rPr>
              <a:t>Ingresos recurrentes </a:t>
            </a:r>
            <a:r>
              <a:rPr sz="3100" b="0" i="1">
                <a:solidFill>
                  <a:srgbClr val="EAD18C"/>
                </a:solidFill>
                <a:latin typeface="Georgia"/>
              </a:rPr>
              <a:t>alineados con el ahorro del cliente.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21868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AD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10896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2ECDD"/>
                </a:solidFill>
                <a:latin typeface="Calibri"/>
              </a:rPr>
              <a:t>Renta mensual — </a:t>
            </a:r>
            <a:r>
              <a:rPr sz="1450" b="0" i="0">
                <a:solidFill>
                  <a:srgbClr val="C4CBC4"/>
                </a:solidFill>
                <a:latin typeface="Calibri"/>
              </a:rPr>
              <a:t>ingreso recurrente y predecible (MRR).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87705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AD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67328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2ECDD"/>
                </a:solidFill>
                <a:latin typeface="Calibri"/>
              </a:rPr>
              <a:t>Intereses del microcrédito — </a:t>
            </a:r>
            <a:r>
              <a:rPr sz="1450" b="0" i="0">
                <a:solidFill>
                  <a:srgbClr val="C4CBC4"/>
                </a:solidFill>
                <a:latin typeface="Calibri"/>
              </a:rPr>
              <a:t>financiamiento del equipo a plazos.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53542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AD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425696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2ECDD"/>
                </a:solidFill>
                <a:latin typeface="Calibri"/>
              </a:rPr>
              <a:t>Mantenimiento y servicios — </a:t>
            </a:r>
            <a:r>
              <a:rPr sz="1450" b="0" i="0">
                <a:solidFill>
                  <a:srgbClr val="C4CBC4"/>
                </a:solidFill>
                <a:latin typeface="Calibri"/>
              </a:rPr>
              <a:t>planes y reemplazos.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1937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AD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084064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50" b="1" i="0">
                <a:solidFill>
                  <a:srgbClr val="F2ECDD"/>
                </a:solidFill>
                <a:latin typeface="Calibri"/>
              </a:rPr>
              <a:t>Optimización de venta a la red — </a:t>
            </a:r>
            <a:r>
              <a:rPr sz="1450" b="0" i="0">
                <a:solidFill>
                  <a:srgbClr val="C4CBC4"/>
                </a:solidFill>
                <a:latin typeface="Calibri"/>
              </a:rPr>
              <a:t>comisión sobre el excedente vendido a CFE.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017520"/>
            <a:ext cx="4846320" cy="3017520"/>
          </a:xfrm>
          <a:prstGeom prst="roundRect">
            <a:avLst>
              <a:gd name="adj" fmla="val 7000"/>
            </a:avLst>
          </a:prstGeom>
          <a:solidFill>
            <a:srgbClr val="0E2A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29184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 spc="140">
                <a:solidFill>
                  <a:srgbClr val="9A968D"/>
                </a:solidFill>
                <a:latin typeface="Consolas"/>
              </a:rPr>
              <a:t>LÓGICA DE UNIDAD · EJEMPLO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7033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4CBC4"/>
                </a:solidFill>
                <a:latin typeface="Calibri"/>
              </a:rPr>
              <a:t>Recibo de luz típico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70332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F2ECDD"/>
                </a:solidFill>
                <a:latin typeface="Calibri"/>
              </a:rPr>
              <a:t>$2,200 / 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4160520"/>
            <a:ext cx="4206240" cy="10972"/>
          </a:xfrm>
          <a:prstGeom prst="rect">
            <a:avLst/>
          </a:prstGeom>
          <a:solidFill>
            <a:srgbClr val="24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42702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4CBC4"/>
                </a:solidFill>
                <a:latin typeface="Calibri"/>
              </a:rPr>
              <a:t>Renta Solvik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4270248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F2ECDD"/>
                </a:solidFill>
                <a:latin typeface="Calibri"/>
              </a:rPr>
              <a:t>$899 / 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4727448"/>
            <a:ext cx="4206240" cy="10972"/>
          </a:xfrm>
          <a:prstGeom prst="rect">
            <a:avLst/>
          </a:prstGeom>
          <a:solidFill>
            <a:srgbClr val="24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483717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4CBC4"/>
                </a:solidFill>
                <a:latin typeface="Calibri"/>
              </a:rPr>
              <a:t>Ahorro del cliente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4837176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 i="0">
                <a:solidFill>
                  <a:srgbClr val="EAD18C"/>
                </a:solidFill>
                <a:latin typeface="Calibri"/>
              </a:rPr>
              <a:t>≈ $1,300 / 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5294376"/>
            <a:ext cx="4206240" cy="10972"/>
          </a:xfrm>
          <a:prstGeom prst="rect">
            <a:avLst/>
          </a:prstGeom>
          <a:solidFill>
            <a:srgbClr val="243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54864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A968D"/>
                </a:solidFill>
                <a:latin typeface="Calibri"/>
              </a:rPr>
              <a:t>Ganamos cuando el cliente gana. Cifras ilustrativas </a:t>
            </a:r>
            <a:r>
              <a:rPr sz="1100" b="0" i="1">
                <a:solidFill>
                  <a:srgbClr val="B68A3C"/>
                </a:solidFill>
                <a:latin typeface="Calibri"/>
              </a:rPr>
              <a:t>[ajustar con su modelo]</a:t>
            </a:r>
            <a:r>
              <a:rPr sz="1100" b="0" i="0">
                <a:solidFill>
                  <a:srgbClr val="9A968D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6850"/>
                </a:solidFill>
                <a:latin typeface="Calibri"/>
              </a:rPr>
              <a:t>◎ </a:t>
            </a:r>
            <a:r>
              <a:rPr sz="1900" b="0" i="0">
                <a:solidFill>
                  <a:srgbClr val="0E1512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5F5C53"/>
                </a:solidFill>
                <a:latin typeface="Consolas"/>
              </a:rPr>
              <a:t>08  ·  MERCADO Y VISIÓN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2E6850"/>
                </a:solidFill>
                <a:latin typeface="Consolas"/>
              </a:rPr>
              <a:t>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74519"/>
            <a:ext cx="5486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0E1512"/>
                </a:solidFill>
                <a:latin typeface="Georgia"/>
              </a:rPr>
              <a:t>Un mercado enorme y </a:t>
            </a:r>
            <a:r>
              <a:rPr sz="3000" b="0" i="1">
                <a:solidFill>
                  <a:srgbClr val="B68A3C"/>
                </a:solidFill>
                <a:latin typeface="Georgia"/>
              </a:rPr>
              <a:t>apenas tocado.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31920"/>
            <a:ext cx="1188720" cy="1828800"/>
          </a:xfrm>
          <a:prstGeom prst="roundRect">
            <a:avLst>
              <a:gd name="adj" fmla="val 6000"/>
            </a:avLst>
          </a:prstGeom>
          <a:solidFill>
            <a:srgbClr val="B0C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0332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B68A3C"/>
                </a:solidFill>
                <a:latin typeface="Consolas"/>
              </a:rPr>
              <a:t>[TAM]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F5C53"/>
                </a:solidFill>
                <a:latin typeface="Calibri"/>
              </a:rPr>
              <a:t>México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3200400"/>
            <a:ext cx="1188720" cy="2560320"/>
          </a:xfrm>
          <a:prstGeom prst="roundRect">
            <a:avLst>
              <a:gd name="adj" fmla="val 6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2971800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B68A3C"/>
                </a:solidFill>
                <a:latin typeface="Consolas"/>
              </a:rPr>
              <a:t>[SAM]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585216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F5C53"/>
                </a:solidFill>
                <a:latin typeface="Calibri"/>
              </a:rPr>
              <a:t>Hogares aptos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468879"/>
            <a:ext cx="1188720" cy="3291840"/>
          </a:xfrm>
          <a:prstGeom prst="roundRect">
            <a:avLst>
              <a:gd name="adj" fmla="val 6000"/>
            </a:avLst>
          </a:prstGeom>
          <a:solidFill>
            <a:srgbClr val="D6B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22402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B68A3C"/>
                </a:solidFill>
                <a:latin typeface="Consolas"/>
              </a:rPr>
              <a:t>[SOM]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585216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F5C53"/>
                </a:solidFill>
                <a:latin typeface="Calibri"/>
              </a:rPr>
              <a:t>Año 1–2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F5C53"/>
                </a:solidFill>
                <a:latin typeface="Calibri"/>
              </a:rPr>
              <a:t>Dimensionen TAM/SAM/SOM con sus cifras </a:t>
            </a:r>
            <a:r>
              <a:rPr sz="1100" b="0" i="1">
                <a:solidFill>
                  <a:srgbClr val="B68A3C"/>
                </a:solidFill>
                <a:latin typeface="Calibri"/>
              </a:rPr>
              <a:t>[completar]</a:t>
            </a:r>
            <a:r>
              <a:rPr sz="1100" b="0" i="0">
                <a:solidFill>
                  <a:srgbClr val="5F5C53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1417320"/>
            <a:ext cx="4846320" cy="4206240"/>
          </a:xfrm>
          <a:prstGeom prst="roundRect">
            <a:avLst>
              <a:gd name="adj" fmla="val 5000"/>
            </a:avLst>
          </a:prstGeom>
          <a:solidFill>
            <a:srgbClr val="0A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7830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 spc="160">
                <a:solidFill>
                  <a:srgbClr val="EAD18C"/>
                </a:solidFill>
                <a:latin typeface="Consolas"/>
              </a:rPr>
              <a:t>NUESTRA VISIÓN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286000"/>
            <a:ext cx="4160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F2ECDD"/>
                </a:solidFill>
                <a:latin typeface="Georgia"/>
              </a:rPr>
              <a:t>Que la energía limpia sea la opción </a:t>
            </a:r>
            <a:r>
              <a:rPr sz="2600" b="0" i="1">
                <a:solidFill>
                  <a:srgbClr val="EAD18C"/>
                </a:solidFill>
                <a:latin typeface="Georgia"/>
              </a:rPr>
              <a:t>default</a:t>
            </a:r>
            <a:r>
              <a:rPr sz="2600" b="0" i="0">
                <a:solidFill>
                  <a:srgbClr val="F2ECDD"/>
                </a:solidFill>
                <a:latin typeface="Georgia"/>
              </a:rPr>
              <a:t> de cada hogar en Latinoamérica.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434840"/>
            <a:ext cx="4160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C4CBC4"/>
                </a:solidFill>
                <a:latin typeface="Calibri"/>
              </a:rPr>
              <a:t>Empezamos en México y escalamos a la región: mismo problema, mismo sol, misma necesidad de acceso justo.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6850"/>
                </a:solidFill>
                <a:latin typeface="Calibri"/>
              </a:rPr>
              <a:t>◎ </a:t>
            </a:r>
            <a:r>
              <a:rPr sz="1900" b="0" i="0">
                <a:solidFill>
                  <a:srgbClr val="0E1512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5F5C53"/>
                </a:solidFill>
                <a:latin typeface="Consolas"/>
              </a:rPr>
              <a:t>09  · 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2E6850"/>
                </a:solidFill>
                <a:latin typeface="Consolas"/>
              </a:rPr>
              <a:t>¿EN QUÉ ETAPA ESTAMOS? · HACIA DÓNDE VAMOS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i="0">
                <a:solidFill>
                  <a:srgbClr val="0E1512"/>
                </a:solidFill>
                <a:latin typeface="Georgia"/>
              </a:rPr>
              <a:t>De prototipo a </a:t>
            </a:r>
            <a:r>
              <a:rPr sz="3100" b="0" i="1">
                <a:solidFill>
                  <a:srgbClr val="B68A3C"/>
                </a:solidFill>
                <a:latin typeface="Georgia"/>
              </a:rPr>
              <a:t>impacto a escala.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29000"/>
            <a:ext cx="10241280" cy="18288"/>
          </a:xfrm>
          <a:prstGeom prst="rect">
            <a:avLst/>
          </a:prstGeom>
          <a:solidFill>
            <a:srgbClr val="E4D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33101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40">
                <a:solidFill>
                  <a:srgbClr val="5F5C53"/>
                </a:solidFill>
                <a:latin typeface="Consolas"/>
              </a:rPr>
              <a:t>HOY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F5C53"/>
                </a:solidFill>
                <a:latin typeface="Calibri"/>
              </a:rPr>
              <a:t>Prototipo funcional + validación con usuarios.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3101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0C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36576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40">
                <a:solidFill>
                  <a:srgbClr val="5F5C53"/>
                </a:solidFill>
                <a:latin typeface="Consolas"/>
              </a:rPr>
              <a:t>6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4069080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F5C53"/>
                </a:solidFill>
                <a:latin typeface="Calibri"/>
              </a:rPr>
              <a:t>Piloto con </a:t>
            </a:r>
            <a:r>
              <a:rPr sz="1400" b="0" i="1">
                <a:solidFill>
                  <a:srgbClr val="B68A3C"/>
                </a:solidFill>
                <a:latin typeface="Calibri"/>
              </a:rPr>
              <a:t>[XX]</a:t>
            </a:r>
            <a:r>
              <a:rPr sz="1400" b="0" i="0">
                <a:solidFill>
                  <a:srgbClr val="5F5C53"/>
                </a:solidFill>
                <a:latin typeface="Calibri"/>
              </a:rPr>
              <a:t> hogares y primeras instalaciones.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3101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B0C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6576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40">
                <a:solidFill>
                  <a:srgbClr val="5F5C53"/>
                </a:solidFill>
                <a:latin typeface="Consolas"/>
              </a:rPr>
              <a:t>12 MESES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4069080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F5C53"/>
                </a:solidFill>
                <a:latin typeface="Calibri"/>
              </a:rPr>
              <a:t>App en tiendas + alianza financiera para el microcrédito.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331012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D6B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365760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140">
                <a:solidFill>
                  <a:srgbClr val="5F5C53"/>
                </a:solidFill>
                <a:latin typeface="Consolas"/>
              </a:rPr>
              <a:t>24 MESES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4069080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F5C53"/>
                </a:solidFill>
                <a:latin typeface="Calibri"/>
              </a:rPr>
              <a:t>Escala nacional y primer mercado fuera de México.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852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F5C53"/>
                </a:solidFill>
                <a:latin typeface="Calibri"/>
              </a:rPr>
              <a:t>Ajusten fechas y metas </a:t>
            </a:r>
            <a:r>
              <a:rPr sz="1500" b="0" i="1">
                <a:solidFill>
                  <a:srgbClr val="B68A3C"/>
                </a:solidFill>
                <a:latin typeface="Calibri"/>
              </a:rPr>
              <a:t>[a su realidad]</a:t>
            </a:r>
            <a:r>
              <a:rPr sz="1500" b="0" i="0">
                <a:solidFill>
                  <a:srgbClr val="5F5C53"/>
                </a:solidFill>
                <a:latin typeface="Calibri"/>
              </a:rPr>
              <a:t>. Lo importante: mostrar avance y un siguiente paso claro.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2E6850"/>
                </a:solidFill>
                <a:latin typeface="Calibri"/>
              </a:rPr>
              <a:t>◎ </a:t>
            </a:r>
            <a:r>
              <a:rPr sz="1900" b="0" i="0">
                <a:solidFill>
                  <a:srgbClr val="0E1512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5F5C53"/>
                </a:solidFill>
                <a:latin typeface="Consolas"/>
              </a:rPr>
              <a:t>10  · 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2E6850"/>
                </a:solidFill>
                <a:latin typeface="Consolas"/>
              </a:rPr>
              <a:t>QUIÉNES LO HACEMOS POSIBLE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6916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i="0">
                <a:solidFill>
                  <a:srgbClr val="0E1512"/>
                </a:solidFill>
                <a:latin typeface="Georgia"/>
              </a:rPr>
              <a:t>Un equipo que </a:t>
            </a:r>
            <a:r>
              <a:rPr sz="3100" b="0" i="1">
                <a:solidFill>
                  <a:srgbClr val="B68A3C"/>
                </a:solidFill>
                <a:latin typeface="Georgia"/>
              </a:rPr>
              <a:t>cree</a:t>
            </a:r>
            <a:r>
              <a:rPr sz="3100" b="0" i="0">
                <a:solidFill>
                  <a:srgbClr val="0E1512"/>
                </a:solidFill>
                <a:latin typeface="Georgia"/>
              </a:rPr>
              <a:t> en energía justa.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3108960"/>
            <a:ext cx="356616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34290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35844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8F4E6"/>
                </a:solidFill>
                <a:latin typeface="Georgia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434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0E1512"/>
                </a:solidFill>
                <a:latin typeface="Georgia"/>
              </a:rPr>
              <a:t>[Nombre]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937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68A3C"/>
                </a:solidFill>
                <a:latin typeface="Calibri"/>
              </a:rPr>
              <a:t>[Rol · ej. CEO / Negocio]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108960"/>
            <a:ext cx="356616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34290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5844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8F4E6"/>
                </a:solidFill>
                <a:latin typeface="Georgia"/>
              </a:rPr>
              <a:t>BB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434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0E1512"/>
                </a:solidFill>
                <a:latin typeface="Georgia"/>
              </a:rPr>
              <a:t>[Nombre]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937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68A3C"/>
                </a:solidFill>
                <a:latin typeface="Calibri"/>
              </a:rPr>
              <a:t>[Rol · ej. Producto / Tech]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1" y="3108960"/>
            <a:ext cx="3566160" cy="2377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DC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39911" y="34290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2E6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1" y="35844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F8F4E6"/>
                </a:solidFill>
                <a:latin typeface="Georgia"/>
              </a:rPr>
              <a:t>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1" y="443484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0E1512"/>
                </a:solidFill>
                <a:latin typeface="Georgia"/>
              </a:rPr>
              <a:t>[Nombre]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1" y="49377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68A3C"/>
                </a:solidFill>
                <a:latin typeface="Calibri"/>
              </a:rPr>
              <a:t>[Rol · ej. Operaciones / Impacto]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852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F5C53"/>
                </a:solidFill>
                <a:latin typeface="Calibri"/>
              </a:rPr>
              <a:t>Agreguen foto, nombre, rol y una línea de por qué cada quién es la persona indicada para resolver esto.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D6B264"/>
                </a:solidFill>
                <a:latin typeface="Calibri"/>
              </a:rPr>
              <a:t>◎ </a:t>
            </a:r>
            <a:r>
              <a:rPr sz="1900" b="0" i="0">
                <a:solidFill>
                  <a:srgbClr val="F2ECDD"/>
                </a:solidFill>
                <a:latin typeface="Georgia"/>
              </a:rPr>
              <a:t>Solvik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79" y="420624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 i="0" spc="180">
                <a:solidFill>
                  <a:srgbClr val="F2ECDD"/>
                </a:solidFill>
                <a:latin typeface="Consolas"/>
              </a:rPr>
              <a:t>11  · 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73736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spc="200">
                <a:solidFill>
                  <a:srgbClr val="EAD18C"/>
                </a:solidFill>
                <a:latin typeface="Consolas"/>
              </a:rPr>
              <a:t>PARA QUÉ · NUESTRA VISIÓN DE CAMBIO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0" i="0">
                <a:solidFill>
                  <a:srgbClr val="F2ECDD"/>
                </a:solidFill>
                <a:latin typeface="Georgia"/>
              </a:rPr>
              <a:t>El sol ya es de todos.</a:t>
            </a:r>
          </a:p>
          <a:p>
            <a:pPr algn="l">
              <a:lnSpc>
                <a:spcPct val="102000"/>
              </a:lnSpc>
            </a:pPr>
            <a:r>
              <a:rPr sz="4400" b="0" i="1">
                <a:solidFill>
                  <a:srgbClr val="EAD18C"/>
                </a:solidFill>
                <a:latin typeface="Georgia"/>
              </a:rPr>
              <a:t>Hagamos que el ahorro también lo sea.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43484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FC8B8"/>
                </a:solidFill>
                <a:latin typeface="Calibri"/>
              </a:rPr>
              <a:t>Buscamos </a:t>
            </a:r>
            <a:r>
              <a:rPr sz="1600" b="1" i="0">
                <a:solidFill>
                  <a:srgbClr val="F2ECDD"/>
                </a:solidFill>
                <a:latin typeface="Calibri"/>
              </a:rPr>
              <a:t>aliados, mentoría y un primer piloto</a:t>
            </a:r>
            <a:r>
              <a:rPr sz="1600" b="0" i="0">
                <a:solidFill>
                  <a:srgbClr val="CFC8B8"/>
                </a:solidFill>
                <a:latin typeface="Calibri"/>
              </a:rPr>
              <a:t> para llevar energía solar accesible a las familias que más lo necesitan.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5532120"/>
            <a:ext cx="2194560" cy="548640"/>
          </a:xfrm>
          <a:prstGeom prst="roundRect">
            <a:avLst>
              <a:gd name="adj" fmla="val 50000"/>
            </a:avLst>
          </a:prstGeom>
          <a:solidFill>
            <a:srgbClr val="D6B2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565099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1512"/>
                </a:solidFill>
                <a:latin typeface="Calibri"/>
              </a:rPr>
              <a:t>Súmate al piloto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5532120"/>
            <a:ext cx="4114800" cy="54864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565099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2ECDD"/>
                </a:solidFill>
                <a:latin typeface="Calibri"/>
              </a:rPr>
              <a:t>hola@solvik.mx · </a:t>
            </a:r>
            <a:r>
              <a:rPr sz="1300" b="0" i="1">
                <a:solidFill>
                  <a:srgbClr val="B68A3C"/>
                </a:solidFill>
                <a:latin typeface="Calibri"/>
              </a:rPr>
              <a:t>[contacto]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